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0" y="137160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0" y="1554480"/>
            <a:ext cx="1554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Calibri"/>
              </a:defRPr>
            </a:pPr>
            <a:r>
              <a:t>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 Light"/>
              </a:defRPr>
            </a:pPr>
            <a:r>
              <a:t>FinanceFlow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  <a:latin typeface="Calibri"/>
              </a:defRPr>
            </a:pPr>
            <a:r>
              <a:t>Personal Finance Management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5029200"/>
            <a:ext cx="210312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 Modern Full-Stack Solution for Smart Money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Web Programming Project  | 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Why personal finance management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38328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472B6"/>
                </a:solidFill>
                <a:latin typeface="Calibri"/>
              </a:defRPr>
            </a:pPr>
            <a:r>
              <a:t>78%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of people live paycheck to paycheck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560320"/>
            <a:ext cx="338328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27432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BBF24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3657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don't track their monthly spending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560320"/>
            <a:ext cx="338328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7432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78BFA"/>
                </a:solidFill>
                <a:latin typeface="Calibri"/>
              </a:defRPr>
            </a:pPr>
            <a:r>
              <a:t>43%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657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have no emergency savings fund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People need an intuitive, all-in-one tool to track income, manage expenses,</a:t>
            </a:r>
            <a:br/>
            <a:r>
              <a:t>set savings goals, and visualize their financial health — without complexity.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FinanceFlow — Your complete financial companion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2651760" cy="3200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265176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Income &amp; Expenses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Real-time tracking with</a:t>
            </a:r>
            <a:br/>
            <a:r>
              <a:t>category breakdowns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468880"/>
            <a:ext cx="2651760" cy="3200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468880"/>
            <a:ext cx="265176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Reports &amp;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Visual charts, trends,</a:t>
            </a:r>
            <a:br/>
            <a:r>
              <a:t>and financial health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468880"/>
            <a:ext cx="2651760" cy="3200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468880"/>
            <a:ext cx="265176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Savings Goals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Set targets and track</a:t>
            </a:r>
            <a:br/>
            <a:r>
              <a:t>progress automatically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468880"/>
            <a:ext cx="2651760" cy="3200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468880"/>
            <a:ext cx="265176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BBF24"/>
                </a:solidFill>
                <a:latin typeface="Calibri"/>
              </a:defRPr>
            </a:pPr>
            <a:r>
              <a:t>Secure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840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Protected accounts with</a:t>
            </a:r>
            <a:br/>
            <a:r>
              <a:t>session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Modern, lightweight, and production-ready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3474720" cy="3840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HTML5 / CSS3 / Vanilla JS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Tailwind CSS (utility-first)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Chart.js (data visualization)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Material Icons (Google)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SVG custom charts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LocalStorage for caching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286000"/>
            <a:ext cx="3474720" cy="3840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514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632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Node.js v18+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Express.js v5.2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Helmet (security headers)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CORS &amp; Rate Limiting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ES6+ Modules (import/export)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dotenv configuration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286000"/>
            <a:ext cx="3474720" cy="3840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514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78BFA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0632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MySQL 8.0+ (primary)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In-Memory fallback (dev)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Connection pooling (x10)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Auto-detection on startup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Migration scripts included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Foreign key 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Hybrid storage with intelligent fallback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286000"/>
            <a:ext cx="484632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24231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Browser (HTML/JS/Tailwind)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474720"/>
            <a:ext cx="484632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36118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Express.js API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663440"/>
            <a:ext cx="484632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4800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Calibri"/>
              </a:defRPr>
            </a:pPr>
            <a:r>
              <a:t>Data Access Layer (Abstraction)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3108960"/>
            <a:ext cx="38100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4297680"/>
            <a:ext cx="38100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86000" y="5760720"/>
            <a:ext cx="3200400" cy="731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5852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Calibri"/>
              </a:defRPr>
            </a:pPr>
            <a:r>
              <a:t>MySQL 8.0+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5760720"/>
            <a:ext cx="3200400" cy="731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5852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72B6"/>
                </a:solidFill>
                <a:latin typeface="Calibri"/>
              </a:defRPr>
            </a:pPr>
            <a:r>
              <a:t>In-Memory Arrays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3774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Client-side rendering</a:t>
            </a:r>
            <a:br/>
            <a:r>
              <a:t>LocalStorage caching</a:t>
            </a:r>
            <a:br/>
            <a:r>
              <a:t>Responsive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RESTful API endpoints</a:t>
            </a:r>
            <a:br/>
            <a:r>
              <a:t>JSON responses</a:t>
            </a:r>
            <a:br/>
            <a:r>
              <a:t>Session 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Auto-detects MySQL</a:t>
            </a:r>
            <a:br/>
            <a:r>
              <a:t>Seamless fallback</a:t>
            </a:r>
            <a:br/>
            <a:r>
              <a:t>Unified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Real-time financial overview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548640" cy="5486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14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$24,500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Total Income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2860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1880" y="2560320"/>
            <a:ext cx="548640" cy="5486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606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514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$18,200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Total Expenses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860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256032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606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514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$6,300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Net Balance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2860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72600" y="256032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606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2514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25.7%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Savings Rate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40480"/>
            <a:ext cx="2651760" cy="2560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840480"/>
            <a:ext cx="265176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Portfolio Chart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Interactive SVG line chart</a:t>
            </a:r>
            <a:br/>
            <a:r>
              <a:t>with 7/30/90/180-day views</a:t>
            </a:r>
            <a:br/>
            <a:r>
              <a:t>and dynamic data scaling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3840480"/>
            <a:ext cx="2651760" cy="2560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37560" y="3840480"/>
            <a:ext cx="265176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Calibri"/>
              </a:defRPr>
            </a:pPr>
            <a:r>
              <a:t>Financial Health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45262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Intelligent 0-100 score based on:</a:t>
            </a:r>
            <a:br/>
            <a:r>
              <a:t>- Savings rate (40% weight)</a:t>
            </a:r>
            <a:br/>
            <a:r>
              <a:t>- Expense consistency (30%)</a:t>
            </a:r>
            <a:br/>
            <a:r>
              <a:t>- Income growth (30%)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840480"/>
            <a:ext cx="2651760" cy="2560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840480"/>
            <a:ext cx="265176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Recent Transactions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5262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Live feed of latest income</a:t>
            </a:r>
            <a:br/>
            <a:r>
              <a:t>and expense entries with</a:t>
            </a:r>
            <a:br/>
            <a:r>
              <a:t>category tags and amounts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3840480"/>
            <a:ext cx="2651760" cy="2560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98280" y="3840480"/>
            <a:ext cx="265176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Savings Goals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45262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Visual progress bars for</a:t>
            </a:r>
            <a:br/>
            <a:r>
              <a:t>multiple concurrent goals</a:t>
            </a:r>
            <a:br/>
            <a:r>
              <a:t>with target tracking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Expense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Track, categorize, and analyze every rupee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560320"/>
            <a:ext cx="76200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Housing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Rent, utilities, maintenance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60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38BDF8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286000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560320"/>
            <a:ext cx="76200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Food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Groceries, dining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560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34D399"/>
                </a:solidFill>
                <a:latin typeface="Calibri"/>
              </a:defRPr>
            </a:pPr>
            <a:r>
              <a:t>22%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86000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2560320"/>
            <a:ext cx="76200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Transport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Fuel, public transit, rides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2560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BBF24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39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23359"/>
            <a:ext cx="76200" cy="64008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93191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Entertainment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519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Movies, subscriptions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0233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472B6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749039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023359"/>
            <a:ext cx="76200" cy="6400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93191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2519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Gadgets, software, 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0233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78BFA"/>
                </a:solidFill>
                <a:latin typeface="Calibri"/>
              </a:defRPr>
            </a:pPr>
            <a:r>
              <a:t>8%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749039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80" y="4023359"/>
            <a:ext cx="76200" cy="6400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93191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Other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2519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Miscellaneous spending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40233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4A3B8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8BDF8"/>
                </a:solidFill>
                <a:latin typeface="Calibri"/>
              </a:defRPr>
            </a:pPr>
            <a:r>
              <a:t>Donut chart visualization  |  Month-over-month trends  |  Smart spending suggestions  |  Search &amp; filter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Income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Monitor all revenue streams in one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65176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Salary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  <a:latin typeface="Calibri"/>
              </a:defRPr>
            </a:pPr>
            <a:r>
              <a:t>$15,000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Primary employment income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28600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5176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Freelance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$5,200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Side projects &amp; contracts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8600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286000"/>
            <a:ext cx="265176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Investment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  <a:latin typeface="Calibri"/>
              </a:defRPr>
            </a:pPr>
            <a:r>
              <a:t>$3,100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Dividends &amp; returns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286000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286000"/>
            <a:ext cx="265176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BBF24"/>
                </a:solidFill>
                <a:latin typeface="Calibri"/>
              </a:defRPr>
            </a:pPr>
            <a:r>
              <a:t>$1,200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Miscellaneous income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14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343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9204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Add, view, filter, and manage income entries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Bar chart visualization for last 6 months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Month-over-month comparison analysis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Search by description and category filtering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Real-time totals and trend indicators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114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343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Calibri"/>
              </a:defRPr>
            </a:pPr>
            <a:r>
              <a:t>Insights Generated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9204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Monthly income trend analysis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Category distribution breakdown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Income growth rate calculation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Highest earning month identification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Projected annual income estimation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Analytics &amp; 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Data-driven insights powered by Chart.js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246888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Line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Weekly &amp; monthly</a:t>
            </a:r>
            <a:br/>
            <a:r>
              <a:t>spending trends over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28600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69080" y="246888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Bar Charts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74903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Income vs. expenses</a:t>
            </a:r>
            <a:br/>
            <a:r>
              <a:t>side-by-side comparison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0" y="246888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Pie 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4903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Category distribution</a:t>
            </a:r>
            <a:br/>
            <a:r>
              <a:t>percentage breakdown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28600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29800" y="246888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Health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74903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Combined metric from</a:t>
            </a:r>
            <a:br/>
            <a:r>
              <a:t>savings, expenses &amp; growth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54880"/>
            <a:ext cx="11247120" cy="1645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Analytics Highlights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Real-time data processing from live transactions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303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Custom date range filtering (7, 30, 90, 180 days)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60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Financial health algorithm combining 3 weighted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760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Interactive tooltips and responsive chart rendering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Savings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Set targets and watch your progress grow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1234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New Porsche 911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Target: $195,000  |  Saved: $126,750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697480"/>
            <a:ext cx="5029200" cy="320040"/>
          </a:xfrm>
          <a:prstGeom prst="roundRect">
            <a:avLst>
              <a:gd name="adj" fmla="val 50000"/>
            </a:avLst>
          </a:prstGeom>
          <a:solidFill>
            <a:srgbClr val="33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0" y="2697480"/>
            <a:ext cx="3268980" cy="3200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2423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49039"/>
            <a:ext cx="10332720" cy="1234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8861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Tokyo Trip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062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Target: $5,000  |  Saved: $4,600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160519"/>
            <a:ext cx="5029200" cy="320040"/>
          </a:xfrm>
          <a:prstGeom prst="roundRect">
            <a:avLst>
              <a:gd name="adj" fmla="val 50000"/>
            </a:avLst>
          </a:prstGeom>
          <a:solidFill>
            <a:srgbClr val="33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4160519"/>
            <a:ext cx="4626864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388619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34D399"/>
                </a:solidFill>
                <a:latin typeface="Calibri"/>
              </a:defRPr>
            </a:pPr>
            <a:r>
              <a:t>92%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212080"/>
            <a:ext cx="10332720" cy="1234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Emergency Fund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Target: $10,000  |  Saved: $7,500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5623560"/>
            <a:ext cx="5029200" cy="320040"/>
          </a:xfrm>
          <a:prstGeom prst="roundRect">
            <a:avLst>
              <a:gd name="adj" fmla="val 50000"/>
            </a:avLst>
          </a:prstGeom>
          <a:solidFill>
            <a:srgbClr val="333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0" y="5623560"/>
            <a:ext cx="377190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5349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A78BFA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675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Goals update automatically as you log income and expenses  |  Multiple concurrent goals supported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Authentication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Protected accounts with modern security practices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Calibri"/>
              </a:defRPr>
            </a:pPr>
            <a:r>
              <a:t>Authentication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Email &amp; password registration with validation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Token-based session management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Secure localStorage token storage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Duplicate email detection on signup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Demo account for instant testing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Glassmorphic login UI design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Auto-redirect on expired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514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Calibri"/>
              </a:defRPr>
            </a:pPr>
            <a:r>
              <a:t>Security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06324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Helmet.js security headers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CORS configuration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API rate limiting protection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Input validation on all endpoints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SQL injection prevention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Two-factor authentication UI (ready)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  Environment-based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Settings &amp; Personalization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Customize your FinanceFlow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560320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Currency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80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INR, USD, EUR, GBP, JPY</a:t>
            </a:r>
            <a:br/>
            <a:r>
              <a:t>Switch anytime, app-wide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2860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2560320"/>
            <a:ext cx="320040" cy="3200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Dark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880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Toggle dark/light theme</a:t>
            </a:r>
            <a:br/>
            <a:r>
              <a:t>Persists across sessions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2860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75320" y="2560320"/>
            <a:ext cx="320040" cy="3200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Budget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880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Set monthly budget target</a:t>
            </a:r>
            <a:br/>
            <a:r>
              <a:t>Track progress automatically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663440"/>
            <a:ext cx="320040" cy="3200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617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983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Avatar upload, name &amp; email</a:t>
            </a:r>
            <a:br/>
            <a:r>
              <a:t>Membership since 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43891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80560" y="4663440"/>
            <a:ext cx="320040" cy="3200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4617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983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Email alerts toggle</a:t>
            </a:r>
            <a:br/>
            <a:r>
              <a:t>Stay informed on activity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3891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75320" y="4663440"/>
            <a:ext cx="320040" cy="32004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4617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2FA 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9834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Two-factor auth UI built</a:t>
            </a:r>
            <a:br/>
            <a:r>
              <a:t>Ready for backend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RESTful API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Clean, consistent, and well-structured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698480" cy="548640"/>
          </a:xfrm>
          <a:prstGeom prst="roundRect">
            <a:avLst>
              <a:gd name="adj" fmla="val 3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698480" cy="3657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770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/api/dashboard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770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Dashboard stats, transactions, goals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27248"/>
            <a:ext cx="10698480" cy="365760"/>
          </a:xfrm>
          <a:prstGeom prst="roundRect">
            <a:avLst>
              <a:gd name="adj" fmla="val 2000"/>
            </a:avLst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/api/transactions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Filtered transaction 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11296"/>
            <a:ext cx="10698480" cy="3657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387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5387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/api/transactions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38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Create new transaction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95344"/>
            <a:ext cx="10698480" cy="365760"/>
          </a:xfrm>
          <a:prstGeom prst="roundRect">
            <a:avLst>
              <a:gd name="adj" fmla="val 2000"/>
            </a:avLst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9227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6"/>
                </a:solidFill>
                <a:latin typeface="Calibri"/>
              </a:defRPr>
            </a:pPr>
            <a:r>
              <a:t>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9227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/api/transactions/:id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9227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Remove a transaction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79392"/>
            <a:ext cx="10698480" cy="3657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3068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3068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/api/analytics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3068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Charts data, trends, insights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663440"/>
            <a:ext cx="10698480" cy="365760"/>
          </a:xfrm>
          <a:prstGeom prst="roundRect">
            <a:avLst>
              <a:gd name="adj" fmla="val 2000"/>
            </a:avLst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908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690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/api/goals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690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User savings goals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047488"/>
            <a:ext cx="10698480" cy="3657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074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/api/settings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074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User preferences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431536"/>
            <a:ext cx="10698480" cy="365760"/>
          </a:xfrm>
          <a:prstGeom prst="roundRect">
            <a:avLst>
              <a:gd name="adj" fmla="val 2000"/>
            </a:avLst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458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5458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/api/settings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5458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Update user settings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815583"/>
            <a:ext cx="10698480" cy="3657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84301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0" y="584301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/api/auth/login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84301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User authentication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6199631"/>
            <a:ext cx="10698480" cy="365760"/>
          </a:xfrm>
          <a:prstGeom prst="roundRect">
            <a:avLst>
              <a:gd name="adj" fmla="val 2000"/>
            </a:avLst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6227063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622706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/api/auth/signup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622706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User registration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What Makes Us Different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Key differentiators of FinanceFlow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47472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  <a:latin typeface="Calibri"/>
              </a:defRPr>
            </a:pPr>
            <a:r>
              <a:t>Zero-Config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Works immediately with in-memory storage. No database setup needed. Just run and 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2860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2286000"/>
            <a:ext cx="347472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514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Hybrid Storage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9260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Auto-detects MySQL availability. Graceful fallback to in-memory. One unified API layer.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2860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286000"/>
            <a:ext cx="347472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514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Calibri"/>
              </a:defRPr>
            </a:pPr>
            <a:r>
              <a:t>Premium Glassmorphic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9260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Neon glow effects, dark mode, responsive design. A premium look without heavy frameworks.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347472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BF24"/>
                </a:solidFill>
                <a:latin typeface="Calibri"/>
              </a:defRPr>
            </a:pPr>
            <a:r>
              <a:t>Financial Health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29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Intelligent 0-100 score combining savings rate, expense patterns, and income growth.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43891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4389120"/>
            <a:ext cx="347472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617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72B6"/>
                </a:solidFill>
                <a:latin typeface="Calibri"/>
              </a:defRPr>
            </a:pPr>
            <a:r>
              <a:t>Lightweight &amp; Fast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029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No frontend framework overhead. Vanilla JS + Tailwind = blazing fast load times.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3891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4389120"/>
            <a:ext cx="347472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4617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Production 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5029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Helmet security, rate limiting, CORS, connection pooling. Ready for real users.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371600"/>
            <a:ext cx="1828800" cy="1828800"/>
          </a:xfrm>
          <a:prstGeom prst="ellipse">
            <a:avLst/>
          </a:prstGeom>
          <a:solidFill>
            <a:srgbClr val="38BDF8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5029200"/>
            <a:ext cx="1371600" cy="1371600"/>
          </a:xfrm>
          <a:prstGeom prst="ellipse">
            <a:avLst/>
          </a:prstGeom>
          <a:solidFill>
            <a:srgbClr val="A78BFA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4572000"/>
            <a:ext cx="914400" cy="914400"/>
          </a:xfrm>
          <a:prstGeom prst="ellipse">
            <a:avLst/>
          </a:prstGeom>
          <a:solidFill>
            <a:srgbClr val="34D399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1097280"/>
            <a:ext cx="731520" cy="731520"/>
          </a:xfrm>
          <a:prstGeom prst="ellipse">
            <a:avLst/>
          </a:prstGeom>
          <a:solidFill>
            <a:srgbClr val="F472B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 Light"/>
              </a:defRPr>
            </a:pPr>
            <a:r>
              <a:t>Thank You!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474720"/>
            <a:ext cx="210312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8BDF8"/>
                </a:solidFill>
                <a:latin typeface="Calibri"/>
              </a:defRPr>
            </a:pPr>
            <a:r>
              <a:t>FinanceFlow — Smart Money Management Made Simple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539496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54864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Demo: demo@financeflow.local / demo123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8521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4D399"/>
                </a:solidFill>
                <a:latin typeface="Consolas"/>
              </a:defRPr>
            </a:pPr>
            <a:r>
              <a:t>Run:  node server/src/full-server.mjs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